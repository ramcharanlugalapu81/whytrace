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3035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FEBAF"/>
          </a:solidFill>
          <a:ln>
            <a:solidFill>
              <a:srgbClr val="FFE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73D45"/>
                </a:solidFill>
                <a:latin typeface="Georgia"/>
              </a:rPr>
              <a:t>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30936"/>
            <a:ext cx="4389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FEBAF"/>
                </a:solidFill>
                <a:latin typeface="Aptos"/>
              </a:rPr>
              <a:t>OPEN AGENT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4983480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500" b="1" i="0">
                <a:solidFill>
                  <a:srgbClr val="FFFDF5"/>
                </a:solidFill>
                <a:latin typeface="Georgia"/>
              </a:rPr>
              <a:t>WhyTrace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4846320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0" i="1">
                <a:solidFill>
                  <a:srgbClr val="FFEBAF"/>
                </a:solidFill>
                <a:latin typeface="Georgia"/>
              </a:rPr>
              <a:t>Explain the change.</a:t>
            </a:r>
          </a:p>
          <a:p>
            <a:pPr algn="l">
              <a:spcAft>
                <a:spcPts val="200"/>
              </a:spcAft>
            </a:pPr>
            <a:r>
              <a:rPr sz="2500" b="0" i="1">
                <a:solidFill>
                  <a:srgbClr val="FFEBAF"/>
                </a:solidFill>
                <a:latin typeface="Georgia"/>
              </a:rPr>
              <a:t>Show the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51960"/>
            <a:ext cx="4480560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E5F0EA"/>
                </a:solidFill>
                <a:latin typeface="Aptos"/>
              </a:rPr>
              <a:t>An agent team that investigates retail revenue shifts and traces each finding back to query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486400"/>
            <a:ext cx="2971800" cy="438912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THE AGENT THAT CAN EXPLAIN WHY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75020" y="1074420"/>
            <a:ext cx="5760720" cy="3621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097280"/>
            <a:ext cx="5715000" cy="35753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89320" y="4956048"/>
            <a:ext cx="5577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EBAF"/>
                </a:solidFill>
                <a:latin typeface="Aptos"/>
              </a:rPr>
              <a:t>Ask naturally  ?  investigate  ? 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A9C8C9"/>
                </a:solidFill>
                <a:latin typeface="Aptos"/>
              </a:rPr>
              <a:t>WHYTRACE  |  OPEN AGENT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A9C8C9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73D45"/>
                </a:solidFill>
                <a:latin typeface="Georgia"/>
              </a:rPr>
              <a:t>A KPI moved. The cause is still a hypothesis.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435608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61757A"/>
                </a:solidFill>
                <a:latin typeface="Aptos"/>
              </a:rPr>
              <a:t>Retail analysts need to connect fragmented signals before they can recommend what to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3493008" cy="1938528"/>
          </a:xfrm>
          <a:prstGeom prst="roundRect">
            <a:avLst>
              <a:gd name="adj" fmla="val 12000"/>
            </a:avLst>
          </a:prstGeom>
          <a:solidFill>
            <a:srgbClr val="FFFDF5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423160"/>
            <a:ext cx="640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770632"/>
            <a:ext cx="309067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73D45"/>
                </a:solidFill>
                <a:latin typeface="Georgia"/>
              </a:rPr>
              <a:t>Scattered investigations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383280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1757A"/>
                </a:solidFill>
                <a:latin typeface="Aptos"/>
              </a:rPr>
              <a:t>Sales, returns, item mix, and inventory often require separate queries and manual comparisons.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240280"/>
            <a:ext cx="3493008" cy="1938528"/>
          </a:xfrm>
          <a:prstGeom prst="roundRect">
            <a:avLst>
              <a:gd name="adj" fmla="val 12000"/>
            </a:avLst>
          </a:prstGeom>
          <a:solidFill>
            <a:srgbClr val="FFFDF5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423160"/>
            <a:ext cx="640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770632"/>
            <a:ext cx="309067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73D45"/>
                </a:solidFill>
                <a:latin typeface="Georgia"/>
              </a:rPr>
              <a:t>Unproven explanations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383280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1757A"/>
                </a:solidFill>
                <a:latin typeface="Aptos"/>
              </a:rPr>
              <a:t>A convincing narrative can still be wrong when its numbers are not tied to source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2240280"/>
            <a:ext cx="3493008" cy="1938528"/>
          </a:xfrm>
          <a:prstGeom prst="roundRect">
            <a:avLst>
              <a:gd name="adj" fmla="val 12000"/>
            </a:avLst>
          </a:prstGeom>
          <a:solidFill>
            <a:srgbClr val="FFFDF5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423160"/>
            <a:ext cx="640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770632"/>
            <a:ext cx="309067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73D45"/>
                </a:solidFill>
                <a:latin typeface="Georgia"/>
              </a:rPr>
              <a:t>Slow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383280"/>
            <a:ext cx="30906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1757A"/>
                </a:solidFill>
                <a:latin typeface="Aptos"/>
              </a:rPr>
              <a:t>Teams need a clear view of what changed, what did not, and what to inspect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72000"/>
            <a:ext cx="11009376" cy="1170432"/>
          </a:xfrm>
          <a:prstGeom prst="roundRect">
            <a:avLst>
              <a:gd name="adj" fmla="val 12000"/>
            </a:avLst>
          </a:prstGeom>
          <a:solidFill>
            <a:srgbClr val="FFEBAF"/>
          </a:solidFill>
          <a:ln>
            <a:solidFill>
              <a:srgbClr val="E9D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23774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73D45"/>
                </a:solidFill>
                <a:latin typeface="Aptos"/>
              </a:rP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1051560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73D45"/>
                </a:solidFill>
                <a:latin typeface="Georgia"/>
              </a:rPr>
              <a:t>How might retail teams explain a metric change with findings they can verify at the query level?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89320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1757A"/>
                </a:solidFill>
                <a:latin typeface="Aptos"/>
              </a:rPr>
              <a:t>For retail analysts and operations teams responsible for acting on revenue movements.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WHYTRACE  |  OPEN AGENT HACKATHON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02 / THE 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73D45"/>
                </a:solidFill>
                <a:latin typeface="Georgia"/>
              </a:rPr>
              <a:t>From question to verified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691640"/>
            <a:ext cx="2313432" cy="2240280"/>
          </a:xfrm>
          <a:prstGeom prst="roundRect">
            <a:avLst>
              <a:gd name="adj" fmla="val 12000"/>
            </a:avLst>
          </a:prstGeom>
          <a:solidFill>
            <a:srgbClr val="FFF9E8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1901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6596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06040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73D45"/>
                </a:solidFill>
                <a:latin typeface="Georgia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054096"/>
            <a:ext cx="192024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1757A"/>
                </a:solidFill>
                <a:latin typeface="Aptos"/>
              </a:rPr>
              <a:t>A planner turns the question into 3?5 testable explanations.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6664" y="256032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4C9DB0"/>
                </a:solidFill>
                <a:latin typeface="Aptos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691640"/>
            <a:ext cx="2313432" cy="2240280"/>
          </a:xfrm>
          <a:prstGeom prst="roundRect">
            <a:avLst>
              <a:gd name="adj" fmla="val 12000"/>
            </a:avLst>
          </a:prstGeom>
          <a:solidFill>
            <a:srgbClr val="FFF9E8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75887" y="1901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96596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606040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73D45"/>
                </a:solidFill>
                <a:latin typeface="Georgia"/>
              </a:rPr>
              <a:t>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054096"/>
            <a:ext cx="192024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1757A"/>
                </a:solidFill>
                <a:latin typeface="Aptos"/>
              </a:rPr>
              <a:t>SQL agents run read-only checks against retail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256032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4C9DB0"/>
                </a:solidFill>
                <a:latin typeface="Aptos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1691640"/>
            <a:ext cx="2313432" cy="2240280"/>
          </a:xfrm>
          <a:prstGeom prst="roundRect">
            <a:avLst>
              <a:gd name="adj" fmla="val 12000"/>
            </a:avLst>
          </a:prstGeom>
          <a:solidFill>
            <a:srgbClr val="FFF9E8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65392" y="1901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96596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606040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73D45"/>
                </a:solidFill>
                <a:latin typeface="Georgia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054096"/>
            <a:ext cx="192024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1757A"/>
                </a:solidFill>
                <a:latin typeface="Aptos"/>
              </a:rPr>
              <a:t>A skeptic reviews result rows for unsupported conclusions.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560320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4C9DB0"/>
                </a:solidFill>
                <a:latin typeface="Aptos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2016" y="1691640"/>
            <a:ext cx="2313432" cy="2240280"/>
          </a:xfrm>
          <a:prstGeom prst="roundRect">
            <a:avLst>
              <a:gd name="adj" fmla="val 12000"/>
            </a:avLst>
          </a:prstGeom>
          <a:solidFill>
            <a:srgbClr val="FFF9E8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54896" y="1901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196596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606040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73D45"/>
                </a:solidFill>
                <a:latin typeface="Georgia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054096"/>
            <a:ext cx="192024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1757A"/>
                </a:solidFill>
                <a:latin typeface="Aptos"/>
              </a:rPr>
              <a:t>The verifier reruns cited SQL and checks every reported number.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4370832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173D45"/>
          </a:solidFill>
          <a:ln>
            <a:solidFill>
              <a:srgbClr val="173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720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FEBAF"/>
                </a:solidFill>
                <a:latin typeface="Aptos"/>
              </a:rPr>
              <a:t>SHARED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9204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Meterless World Model stores query evidence, deterministic IDs, source, model, and provenance.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769864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1757A"/>
                </a:solidFill>
                <a:latin typeface="Aptos"/>
              </a:rPr>
              <a:t>Evidence IDs are content-derived. The verifier uses a 0.5% numeric tolerance and flags mismatches.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WHYTRACE  |  OPEN AGENT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03 / SAMPLE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73D45"/>
                </a:solidFill>
                <a:latin typeface="Georgia"/>
              </a:rPr>
              <a:t>A 44.1% decline, traced to source rows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394460"/>
            <a:ext cx="7525512" cy="4727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s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7479792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600200"/>
            <a:ext cx="3154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S3 ?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938528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73D45"/>
                </a:solidFill>
                <a:latin typeface="Georgia"/>
              </a:rPr>
              <a:t>$8,408 ? $4,699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697480"/>
            <a:ext cx="3090672" cy="685800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solidFill>
              <a:srgbClr val="DD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88036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76746"/>
                </a:solidFill>
                <a:latin typeface="Aptos"/>
              </a:rPr>
              <a:t>?44.1%  | 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675887"/>
            <a:ext cx="301752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1757A"/>
                </a:solidFill>
                <a:latin typeface="Aptos"/>
              </a:rPr>
              <a:t>The report links the claim to the evidence ID, SQL, returned rows, and model used.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736592"/>
            <a:ext cx="3090672" cy="978408"/>
          </a:xfrm>
          <a:prstGeom prst="roundRect">
            <a:avLst>
              <a:gd name="adj" fmla="val 12000"/>
            </a:avLst>
          </a:prstGeom>
          <a:solidFill>
            <a:srgbClr val="FFEBAF"/>
          </a:solidFill>
          <a:ln>
            <a:solidFill>
              <a:srgbClr val="E9D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4919472"/>
            <a:ext cx="26517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73D45"/>
                </a:solidFill>
                <a:latin typeface="Aptos"/>
              </a:rPr>
              <a:t>WHAT TO NOTICE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5230368"/>
            <a:ext cx="26974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73D45"/>
                </a:solidFill>
                <a:latin typeface="Aptos"/>
              </a:rPr>
              <a:t>The claimed values are rechecked from the cited query.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WHYTRACE  |  OPEN AGENT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04 / EVIDENCE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73D45"/>
                </a:solidFill>
                <a:latin typeface="Georgia"/>
              </a:rPr>
              <a:t>The decoy stays visible?and gets ruled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303020"/>
            <a:ext cx="7525512" cy="4727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8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iz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79792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8472" y="1572768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QUERY-BACKED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2" y="1901952"/>
            <a:ext cx="3154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73D45"/>
                </a:solidFill>
                <a:latin typeface="Georgia"/>
              </a:rPr>
              <a:t>S3 falls.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73D45"/>
                </a:solidFill>
                <a:latin typeface="Georgia"/>
              </a:rPr>
              <a:t>Peer stores 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8472" y="2944368"/>
            <a:ext cx="3090672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1757A"/>
                </a:solidFill>
                <a:latin typeface="Aptos"/>
              </a:rPr>
              <a:t>The chart uses the same monthly store query as the written finding.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48472" y="4233672"/>
            <a:ext cx="3090672" cy="1115568"/>
          </a:xfrm>
          <a:prstGeom prst="roundRect">
            <a:avLst>
              <a:gd name="adj" fmla="val 12000"/>
            </a:avLst>
          </a:prstGeom>
          <a:solidFill>
            <a:srgbClr val="FFF4D5"/>
          </a:solidFill>
          <a:ln>
            <a:solidFill>
              <a:srgbClr val="E9D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58784" y="4416552"/>
            <a:ext cx="2606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73D45"/>
                </a:solidFill>
                <a:latin typeface="Aptos"/>
              </a:rPr>
              <a:t>ALTERNATIVE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4745736"/>
            <a:ext cx="2606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73D45"/>
                </a:solidFill>
                <a:latin typeface="Aptos"/>
              </a:rPr>
              <a:t>Electronics returns spiked, but were too small to explain the lost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WHYTRACE  |  OPEN AGENT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05 / TECHNOLOGY &amp; SPONSOR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73D45"/>
                </a:solidFill>
                <a:latin typeface="Georgia"/>
              </a:rPr>
              <a:t>Built for traceability, with honest mode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72768"/>
            <a:ext cx="3502152" cy="2148840"/>
          </a:xfrm>
          <a:prstGeom prst="roundRect">
            <a:avLst>
              <a:gd name="adj" fmla="val 12000"/>
            </a:avLst>
          </a:prstGeom>
          <a:solidFill>
            <a:srgbClr val="214B52"/>
          </a:solidFill>
          <a:ln>
            <a:solidFill>
              <a:srgbClr val="326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10512"/>
            <a:ext cx="30540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FEBAF"/>
                </a:solidFill>
                <a:latin typeface="Aptos"/>
              </a:rPr>
              <a:t>METERLESS WORLD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86000"/>
            <a:ext cx="299923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4EFEB"/>
                </a:solidFill>
                <a:latin typeface="Aptos"/>
              </a:rPr>
              <a:t>Local minimal evidence engine: idempotent ingest, JSONL records, deterministic evidence IDs, and provenance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7" y="1572768"/>
            <a:ext cx="3502152" cy="2148840"/>
          </a:xfrm>
          <a:prstGeom prst="roundRect">
            <a:avLst>
              <a:gd name="adj" fmla="val 12000"/>
            </a:avLst>
          </a:prstGeom>
          <a:solidFill>
            <a:srgbClr val="214B52"/>
          </a:solidFill>
          <a:ln>
            <a:solidFill>
              <a:srgbClr val="326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1810512"/>
            <a:ext cx="30540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FEBAF"/>
                </a:solidFill>
                <a:latin typeface="Aptos"/>
              </a:rPr>
              <a:t>ZETARIS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286000"/>
            <a:ext cx="299923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4EFEB"/>
                </a:solidFill>
                <a:latin typeface="Aptos"/>
              </a:rPr>
              <a:t>Read-only JDBC adapter is configurable for real data. The captured demo uses the deterministic DuckDB sample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3" y="1572768"/>
            <a:ext cx="3502152" cy="2148840"/>
          </a:xfrm>
          <a:prstGeom prst="roundRect">
            <a:avLst>
              <a:gd name="adj" fmla="val 12000"/>
            </a:avLst>
          </a:prstGeom>
          <a:solidFill>
            <a:srgbClr val="214B52"/>
          </a:solidFill>
          <a:ln>
            <a:solidFill>
              <a:srgbClr val="326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1624" y="1810512"/>
            <a:ext cx="30540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FEBAF"/>
                </a:solidFill>
                <a:latin typeface="Aptos"/>
              </a:rPr>
              <a:t>NIGHTSHIFT + NEMOTRON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1624" y="2286000"/>
            <a:ext cx="299923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4EFEB"/>
                </a:solidFill>
                <a:latin typeface="Aptos"/>
              </a:rPr>
              <a:t>Nightshift provides planner / SQL / explanation roles and NVIDIA Nemotron the skeptic role when credentials are configured.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160520"/>
            <a:ext cx="10936224" cy="1271016"/>
          </a:xfrm>
          <a:prstGeom prst="roundRect">
            <a:avLst>
              <a:gd name="adj" fmla="val 12000"/>
            </a:avLst>
          </a:prstGeom>
          <a:solidFill>
            <a:srgbClr val="FFF4D5"/>
          </a:solidFill>
          <a:ln>
            <a:solidFill>
              <a:srgbClr val="FFF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70832"/>
            <a:ext cx="2743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73D45"/>
                </a:solidFill>
                <a:latin typeface="Aptos"/>
              </a:rPr>
              <a:t>THIS SCREENSHOT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718304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73D45"/>
                </a:solidFill>
                <a:latin typeface="Aptos"/>
              </a:rPr>
              <a:t>SAMPLE_MODE uses DuckDB and the deterministic offline evidence agent here. Live Nightshift, Nemotron, and Zetaris access needs your own credentials and was not used for this capture.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B7D6D5"/>
                </a:solidFill>
                <a:latin typeface="Aptos"/>
              </a:rPr>
              <a:t>No shared API keys or deployment secrets are included in the project or this deck.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A9C8C9"/>
                </a:solidFill>
                <a:latin typeface="Aptos"/>
              </a:rPr>
              <a:t>WHYTRACE  |  OPEN AGENT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A9C8C9"/>
                </a:solidFill>
                <a:latin typeface="Apto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972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C9DB0"/>
                </a:solidFill>
                <a:latin typeface="Aptos"/>
              </a:rPr>
              <a:t>06 / DEMO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73D45"/>
                </a:solidFill>
                <a:latin typeface="Georgia"/>
              </a:rPr>
              <a:t>A two-minute story, backed by a reproducible trace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804672" cy="475488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618488"/>
            <a:ext cx="6949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9047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D45"/>
                </a:solidFill>
                <a:latin typeface="Georgia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90472"/>
            <a:ext cx="7680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1757A"/>
                </a:solidFill>
                <a:latin typeface="Aptos"/>
              </a:rPr>
              <a:t>?Why did S3 revenue drop in March 2026??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804672" cy="475488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578608"/>
            <a:ext cx="6949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00:20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5059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D45"/>
                </a:solidFill>
                <a:latin typeface="Georgia"/>
              </a:rPr>
              <a:t>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50592"/>
            <a:ext cx="7680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1757A"/>
                </a:solidFill>
                <a:latin typeface="Aptos"/>
              </a:rPr>
              <a:t>Show plan, read-only SQL checks, skeptic review, and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804672" cy="475488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538728"/>
            <a:ext cx="6949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01:10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1071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D45"/>
                </a:solidFill>
                <a:latin typeface="Georgia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10712"/>
            <a:ext cx="7680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1757A"/>
                </a:solidFill>
                <a:latin typeface="Aptos"/>
              </a:rPr>
              <a:t>Show the verified $8,408 ? $4,699 change and inspect ?Why do you believe this??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804672" cy="475488"/>
          </a:xfrm>
          <a:prstGeom prst="roundRect">
            <a:avLst>
              <a:gd name="adj" fmla="val 12000"/>
            </a:avLst>
          </a:prstGeom>
          <a:solidFill>
            <a:srgbClr val="4C9DB0"/>
          </a:solidFill>
          <a:ln>
            <a:solidFill>
              <a:srgbClr val="4C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498848"/>
            <a:ext cx="69494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01:40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37083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73D45"/>
                </a:solidFill>
                <a:latin typeface="Georgia"/>
              </a:rPr>
              <a:t>Visualize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370832"/>
            <a:ext cx="7680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1757A"/>
                </a:solidFill>
                <a:latin typeface="Aptos"/>
              </a:rPr>
              <a:t>Compare S3 with peers; point out why the returns signal was ruled 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173D45"/>
          </a:solidFill>
          <a:ln>
            <a:solidFill>
              <a:srgbClr val="173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50992"/>
            <a:ext cx="10469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EBAF"/>
                </a:solidFill>
                <a:latin typeface="Aptos"/>
              </a:rPr>
              <a:t>WHYTRACE  |  Every explanation has a query. Every number can be checked.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WHYTRACE  |  OPEN AGENT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61757A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WhyTrace ? Evidence-led Retail Revenue Intelligence</dc:title>
  <dc:subject>Open Agent Hackathon pitch deck</dc:subject>
  <dc:creator>WhyTrace</dc:creator>
  <cp:keywords>WhyTrace, agent, retail analytics, evidence, Meterless, Zetaris, Nemotron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